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4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3C5FD"/>
                </a:solidFill>
                <a:latin typeface="Aptos"/>
              </a:rPr>
              <a:t>APEXPLANET  • 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6309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Exploratory Data Analysis
&amp; 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944368"/>
            <a:ext cx="566928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BEAFE"/>
                </a:solidFill>
                <a:latin typeface="Aptos"/>
              </a:rPr>
              <a:t>Sales Performance &amp; Customer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793008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Python  •  Pandas  •  SQL  •  SQLite  • 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46052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tos"/>
              </a:rPr>
              <a:t>2025 full-year analysis + January 2026 partial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5989320"/>
            <a:ext cx="5303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94A3B8"/>
                </a:solidFill>
                <a:latin typeface="Aptos"/>
              </a:rPr>
              <a:t>Prepared for internship / academic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12344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399032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709928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111756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>
                <a:solidFill>
                  <a:srgbClr val="64748B"/>
                </a:solidFill>
                <a:latin typeface="Aptos"/>
              </a:rPr>
              <a:t>S</a:t>
            </a:r>
            <a:r>
              <a:rPr sz="1100" b="0" dirty="0" smtClean="0">
                <a:solidFill>
                  <a:srgbClr val="64748B"/>
                </a:solidFill>
                <a:latin typeface="Aptos"/>
              </a:rPr>
              <a:t>ource 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69748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862072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160268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F172A"/>
                </a:solidFill>
                <a:latin typeface="Aptos"/>
              </a:rPr>
              <a:t>₹13.94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58749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₹139,399,439.65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605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4160520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432511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0EA5E9"/>
                </a:solidFill>
                <a:latin typeface="Aptos"/>
              </a:rPr>
              <a:t>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610608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F172A"/>
                </a:solidFill>
                <a:latin typeface="Aptos"/>
              </a:rPr>
              <a:t>947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5037836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dirty="0">
                <a:solidFill>
                  <a:srgbClr val="64748B"/>
                </a:solidFill>
                <a:latin typeface="Aptos"/>
              </a:rPr>
              <a:t>U</a:t>
            </a:r>
            <a:r>
              <a:rPr sz="1100" b="0" dirty="0" smtClean="0">
                <a:solidFill>
                  <a:srgbClr val="64748B"/>
                </a:solidFill>
                <a:latin typeface="Aptos"/>
              </a:rPr>
              <a:t>nique </a:t>
            </a:r>
            <a:r>
              <a:rPr sz="1100" b="0" dirty="0">
                <a:solidFill>
                  <a:srgbClr val="64748B"/>
                </a:solidFill>
                <a:latin typeface="Aptos"/>
              </a:rPr>
              <a:t>Customer 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989320"/>
            <a:ext cx="3337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13-slide final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Project Objective &amp;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1483868"/>
            <a:ext cx="5120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380" y="1874519"/>
            <a:ext cx="521208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172A"/>
                </a:solidFill>
                <a:latin typeface="Aptos"/>
              </a:rPr>
              <a:t>Analyze customer transactions to identify revenue drivers, category and product performance, seasonal patterns, and retention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380" y="3460000"/>
            <a:ext cx="53035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563EB"/>
                </a:solidFill>
                <a:latin typeface="Aptos"/>
              </a:rPr>
              <a:t>ANALYTICAL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30000"/>
            <a:ext cx="1554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3000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994592"/>
            <a:ext cx="1234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301248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F172A"/>
                </a:solidFill>
                <a:latin typeface="Aptos"/>
              </a:rPr>
              <a:t>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9152" y="3830000"/>
            <a:ext cx="1554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59152" y="383000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23744" y="3994592"/>
            <a:ext cx="1234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4902" y="4235892"/>
            <a:ext cx="1353312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dirty="0" smtClean="0">
                <a:latin typeface="Aptos"/>
              </a:rPr>
              <a:t>Data </a:t>
            </a:r>
            <a:r>
              <a:rPr lang="en-US" sz="1700" b="1" dirty="0" smtClean="0">
                <a:latin typeface="Aptos"/>
              </a:rPr>
              <a:t>   </a:t>
            </a:r>
            <a:r>
              <a:rPr lang="en-US" sz="1700" b="1" dirty="0" smtClean="0">
                <a:latin typeface="Aptos"/>
              </a:rPr>
              <a:t>       </a:t>
            </a:r>
            <a:r>
              <a:rPr sz="1700" b="1" dirty="0" smtClean="0">
                <a:latin typeface="Aptos"/>
              </a:rPr>
              <a:t>Quality</a:t>
            </a:r>
            <a:endParaRPr sz="1700" b="1" dirty="0"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78224" y="3830000"/>
            <a:ext cx="1554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78224" y="383000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42816" y="3994592"/>
            <a:ext cx="1234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305488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EDA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10160"/>
            <a:ext cx="1554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11016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5274752"/>
            <a:ext cx="1234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585648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9152" y="5110160"/>
            <a:ext cx="1554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59152" y="511016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23744" y="5274752"/>
            <a:ext cx="1234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3744" y="5585648"/>
            <a:ext cx="1234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Insights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8224" y="5110160"/>
            <a:ext cx="1900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78224" y="511016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42816" y="5274752"/>
            <a:ext cx="1234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2816" y="5585648"/>
            <a:ext cx="1600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160020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1" y="1764792"/>
            <a:ext cx="20116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1" y="2075688"/>
            <a:ext cx="2011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1" y="2414016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transaction records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52560" y="160020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17152" y="1764792"/>
            <a:ext cx="20116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CUSTOMERS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2075688"/>
            <a:ext cx="2011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947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2414016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unique customers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0632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3063240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56831" y="3227832"/>
            <a:ext cx="20116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COLUMNS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1" y="3538728"/>
            <a:ext cx="20116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1" y="3877056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source variables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30632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052560" y="3063240"/>
            <a:ext cx="64008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17152" y="3227832"/>
            <a:ext cx="20116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Aptos"/>
              </a:rPr>
              <a:t>PERIOD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7152" y="3538728"/>
            <a:ext cx="216684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2025 + Jan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3877056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Jan 2026 is partial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709160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TOOLS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010912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Python  •  Pandas  •  Matplotlib  •  Seaborn
SQLite  •  SQL  •  Excel  •  PowerPoint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Data Quality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14884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13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7568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53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full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14884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0" y="1600200"/>
            <a:ext cx="64008" cy="1300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176479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Aptos"/>
              </a:rPr>
              <a:t>DUPLICATE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07568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53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83080"/>
            <a:ext cx="214884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Rectangle 17"/>
          <p:cNvSpPr/>
          <p:nvPr/>
        </p:nvSpPr>
        <p:spPr>
          <a:xfrm>
            <a:off x="640080" y="3083080"/>
            <a:ext cx="64008" cy="130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324767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B45309"/>
                </a:solidFill>
                <a:latin typeface="Aptos"/>
              </a:rPr>
              <a:t>MISSING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55856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01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2.0% of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083080"/>
            <a:ext cx="214884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0" y="3083080"/>
            <a:ext cx="64008" cy="130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90672" y="324767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Aptos"/>
              </a:rPr>
              <a:t>MISSING 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355856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672" y="4017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1.3% of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65960"/>
            <a:ext cx="214884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4565960"/>
            <a:ext cx="64008" cy="1300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473055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Aptos"/>
              </a:rPr>
              <a:t>SALES CALC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504144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500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4565960"/>
            <a:ext cx="2148840" cy="13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926080" y="4565960"/>
            <a:ext cx="64008" cy="130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90672" y="4730552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Aptos"/>
              </a:rPr>
              <a:t>PROBLEM ORDER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672" y="504144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0672" y="5500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ORD100050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1600200"/>
            <a:ext cx="53949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563EB"/>
                </a:solidFill>
                <a:latin typeface="Aptos"/>
              </a:rPr>
              <a:t>VALIDATION 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196596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Total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196596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8440" y="1965960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404872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Total columns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2404872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8440" y="2404872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2843784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Duplicate rows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843784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28440" y="2843784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3282696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Invalid dates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282696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8440" y="3282696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3721608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Zero / negative quantity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372160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28440" y="3721608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416052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Zero / negative unit price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416052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28440" y="4160520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4599432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Incorrect total sales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72600" y="4599432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8440" y="4599432"/>
            <a:ext cx="9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5803D"/>
                </a:solidFill>
                <a:latin typeface="Aptos"/>
              </a:rPr>
              <a:t>PASS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0" y="5293868"/>
            <a:ext cx="548640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15000" y="5376672"/>
            <a:ext cx="2377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ORDER_ID HANDLING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79" y="532180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Transactions = 1,000
Distinct Order IDs = 992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0" y="5826252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ORD100050 appears across multiple customers and dates.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Executive KPI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1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4248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₹13.94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86076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₹139,399,439.65 total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087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50876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673351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F766E"/>
                </a:solidFill>
                <a:latin typeface="Aptos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84248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73376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source records </a:t>
            </a:r>
            <a:r>
              <a:rPr sz="1100" b="0" dirty="0" smtClean="0">
                <a:solidFill>
                  <a:srgbClr val="64748B"/>
                </a:solidFill>
                <a:latin typeface="Aptos"/>
              </a:rPr>
              <a:t>analyzed</a:t>
            </a:r>
            <a:endParaRPr sz="110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01583" y="15087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508760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5" y="1673351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DISTINCT ORDER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1984248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992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373376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reported separately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71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297180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136392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3447288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947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3836415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unique Customer 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2971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70832" y="297180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35424" y="3136392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F766E"/>
                </a:solidFill>
                <a:latin typeface="Aptos"/>
              </a:rPr>
              <a:t>UNITS SOLD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447288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5,435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3836415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total quantity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29718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01583" y="2971800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66175" y="3136392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AVG TRANSACTION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3447288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₹1.394 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3811015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₹139,399.44 per transaction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617720"/>
            <a:ext cx="10881360" cy="1051560"/>
          </a:xfrm>
          <a:prstGeom prst="roundRect">
            <a:avLst/>
          </a:prstGeom>
          <a:solidFill>
            <a:srgbClr val="F0FDFA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4818888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F766E"/>
                </a:solidFill>
                <a:latin typeface="Aptos"/>
              </a:rPr>
              <a:t>HEADLINE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883" y="4831588"/>
            <a:ext cx="8915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b="1" dirty="0" smtClean="0">
              <a:solidFill>
                <a:srgbClr val="0F172A"/>
              </a:solidFill>
              <a:latin typeface="Aptos"/>
            </a:endParaRPr>
          </a:p>
          <a:p>
            <a:pPr algn="l"/>
            <a:r>
              <a:rPr b="1" dirty="0" smtClean="0">
                <a:solidFill>
                  <a:srgbClr val="0F172A"/>
                </a:solidFill>
                <a:latin typeface="Aptos"/>
              </a:rPr>
              <a:t>Electronics </a:t>
            </a:r>
            <a:r>
              <a:rPr b="1" dirty="0">
                <a:solidFill>
                  <a:srgbClr val="0F172A"/>
                </a:solidFill>
                <a:latin typeface="Aptos"/>
              </a:rPr>
              <a:t>leads the portfolio with 36.43% of total revenue.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08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Monthly Revenue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8872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January 2026 is shown separately because the period is partial.</a:t>
            </a:r>
          </a:p>
        </p:txBody>
      </p:sp>
      <p:pic>
        <p:nvPicPr>
          <p:cNvPr id="8" name="Picture 7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4368"/>
            <a:ext cx="7406640" cy="36721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6002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160020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31352" y="1764792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PEAK COMPLETE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075688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March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8652" y="241147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₹13,059,899.94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92608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2926080"/>
            <a:ext cx="64008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3090672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Aptos"/>
              </a:rPr>
              <a:t>WEAKEST COMPLETE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401568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September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7225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₹9,179,896.29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425196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4251960"/>
            <a:ext cx="64008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31352" y="4416552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JAN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4727448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₹0.08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6752" y="506323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partial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Category Revenue Performance</a:t>
            </a:r>
          </a:p>
        </p:txBody>
      </p:sp>
      <p:pic>
        <p:nvPicPr>
          <p:cNvPr id="7" name="Picture 6" descr="categor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040880" cy="3603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0" y="160020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5592" y="1764792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LEADING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207568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Electronics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1401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₹5.08 Cr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0632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30632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3227832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REVENUE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53872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36.43%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387705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of ₹13.94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709160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010912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F172A"/>
                </a:solidFill>
                <a:latin typeface="Aptos"/>
              </a:rPr>
              <a:t>Electronics leads by a clear margin over the next category.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Top Products by Revenue</a:t>
            </a:r>
          </a:p>
        </p:txBody>
      </p:sp>
      <p:pic>
        <p:nvPicPr>
          <p:cNvPr id="7" name="Picture 6" descr="produc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040880" cy="37119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0" y="160020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5592" y="1764792"/>
            <a:ext cx="2926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#1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207568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1401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₹2.54 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0632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306324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3227832"/>
            <a:ext cx="2926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#2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53872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Mobile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387705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₹2.53 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5262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4526280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4690872"/>
            <a:ext cx="2926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TOP 2 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500176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36.43%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534009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Laptop + Mobile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Customer &amp; Segment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514600" cy="126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12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1"/>
            <a:ext cx="21945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TOTAL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42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947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4050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unique Customer 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08760"/>
            <a:ext cx="2514600" cy="126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508760"/>
            <a:ext cx="64008" cy="126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1673351"/>
            <a:ext cx="21945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Aptos"/>
              </a:rPr>
              <a:t>ONE-TIME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9842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895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3923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94.51% of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08760"/>
            <a:ext cx="2514600" cy="126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508760"/>
            <a:ext cx="64008" cy="126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1673351"/>
            <a:ext cx="21945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REPEAT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9842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4050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based on distinct Order 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508760"/>
            <a:ext cx="2514600" cy="126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1508760"/>
            <a:ext cx="64008" cy="126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34272" y="1673351"/>
            <a:ext cx="21945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REPEAT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198424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5.49%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4050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52 of 947 customers</a:t>
            </a:r>
          </a:p>
        </p:txBody>
      </p:sp>
      <p:pic>
        <p:nvPicPr>
          <p:cNvPr id="27" name="Picture 26" descr="ag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" y="3114200"/>
            <a:ext cx="5878690" cy="311083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001000" y="30632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1000" y="3063240"/>
            <a:ext cx="64008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5592" y="3227832"/>
            <a:ext cx="2926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TOP AGE 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53872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55–65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392785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₹3.05 Cr • 223 transactions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617720"/>
            <a:ext cx="3246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919472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Repeat customers represent 5.49%, indicating a retention opportunity.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Geographic Revenue Performance</a:t>
            </a:r>
          </a:p>
        </p:txBody>
      </p:sp>
      <p:pic>
        <p:nvPicPr>
          <p:cNvPr id="7" name="Picture 6" descr="cit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040880" cy="35873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0" y="160020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5592" y="1764792"/>
            <a:ext cx="292607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TOP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2075688"/>
            <a:ext cx="29260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Patna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90216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₹1.93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141980"/>
            <a:ext cx="3246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TOP 5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49300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49300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Patna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7000" y="3493008"/>
            <a:ext cx="12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Aptos"/>
              </a:rPr>
              <a:t>₹1.93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93192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319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Kolkata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7000" y="3931920"/>
            <a:ext cx="12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Aptos"/>
              </a:rPr>
              <a:t>₹1.89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370831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370831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Bengaluru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7000" y="4370831"/>
            <a:ext cx="12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Aptos"/>
              </a:rPr>
              <a:t>₹1.88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80974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0974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Mumbai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7000" y="4809744"/>
            <a:ext cx="12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Aptos"/>
              </a:rPr>
              <a:t>₹1.88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24865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24865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Hyderabad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7000" y="5248656"/>
            <a:ext cx="12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F172A"/>
                </a:solidFill>
                <a:latin typeface="Aptos"/>
              </a:rPr>
              <a:t>₹1.72 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Multivariate Analysis &amp; 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8872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Scatter plots and correlation analysis explore relationships among numerical variables.</a:t>
            </a:r>
          </a:p>
        </p:txBody>
      </p:sp>
      <p:pic>
        <p:nvPicPr>
          <p:cNvPr id="8" name="Picture 7" descr="scatter_quantit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9560"/>
            <a:ext cx="5350000" cy="2870000"/>
          </a:xfrm>
          <a:prstGeom prst="rect">
            <a:avLst/>
          </a:prstGeom>
        </p:spPr>
      </p:pic>
      <p:pic>
        <p:nvPicPr>
          <p:cNvPr id="9" name="Picture 8" descr="scatter_price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080" y="1572260"/>
            <a:ext cx="5350000" cy="2870000"/>
          </a:xfrm>
          <a:prstGeom prst="rect">
            <a:avLst/>
          </a:prstGeom>
        </p:spPr>
      </p:pic>
      <p:pic>
        <p:nvPicPr>
          <p:cNvPr id="10" name="Picture 9" descr="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80000"/>
            <a:ext cx="3524000" cy="17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4638760"/>
            <a:ext cx="6217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563EB"/>
                </a:solidFill>
                <a:latin typeface="Aptos"/>
              </a:rPr>
              <a:t>KEY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000" y="4967944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967944"/>
            <a:ext cx="6217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Quantity and Total Sales show a positive correlation of 0.65.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000" y="5443432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443432"/>
            <a:ext cx="6217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Unit Price and Total Sales show a positive correlation of 0.69.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000" y="5918920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918920"/>
            <a:ext cx="6217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ptos"/>
              </a:rPr>
              <a:t>Age has near-zero correlation with Total Sales, at 0.00.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SQL-Driven Business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0574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14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190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BUSINESS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3820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F172A"/>
                </a:solidFill>
                <a:latin typeface="Aptos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47652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answered with 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417320"/>
            <a:ext cx="20574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1417320"/>
            <a:ext cx="64008" cy="14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1581912"/>
            <a:ext cx="190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1971120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F172A"/>
                </a:solidFill>
                <a:latin typeface="Aptos"/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48922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sales.db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417320"/>
            <a:ext cx="2057400" cy="14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20640" y="1417320"/>
            <a:ext cx="64008" cy="14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85231" y="1581912"/>
            <a:ext cx="190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1945720"/>
            <a:ext cx="1737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0F172A"/>
                </a:solidFill>
                <a:latin typeface="Aptos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48922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SQL_Results.xlsx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68920"/>
            <a:ext cx="65379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563EB"/>
                </a:solidFill>
                <a:latin typeface="Aptos"/>
              </a:rPr>
              <a:t>BUSINESS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3468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080" y="333468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Top products by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4616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080" y="374616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Monthly revenue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5764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080" y="415764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City × category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6912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080" y="456912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Repeat customer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060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080" y="498060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Gender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208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080" y="539208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ptos"/>
              </a:rPr>
              <a:t>Age-group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3560"/>
            <a:ext cx="600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Q7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080" y="5803560"/>
            <a:ext cx="557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ptos"/>
              </a:rPr>
              <a:t>High-value transactions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2788920"/>
            <a:ext cx="4069080" cy="3150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99248" y="2999232"/>
            <a:ext cx="3474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563EB"/>
                </a:solidFill>
                <a:latin typeface="Aptos"/>
              </a:rPr>
              <a:t>SAMPLE QUERY • Q1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3364992"/>
            <a:ext cx="3520440" cy="21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0F172A"/>
                </a:solidFill>
                <a:latin typeface="Consolas"/>
              </a:rPr>
              <a:t>SELECT 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p.Product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p.Category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,
SUM(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s.Total_Sales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) AS Revenue
FROM sales s
JOIN products p
  ON 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s.Product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 = 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p.Product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
GROUP BY 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p.Product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0F172A"/>
                </a:solidFill>
                <a:latin typeface="Consolas"/>
              </a:rPr>
              <a:t>p.Category</a:t>
            </a:r>
            <a:r>
              <a:rPr sz="1500" b="0" dirty="0">
                <a:solidFill>
                  <a:srgbClr val="0F172A"/>
                </a:solidFill>
                <a:latin typeface="Consolas"/>
              </a:rPr>
              <a:t>
ORDER BY Revenue DESC
LIMIT 5;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5555000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Filtering • Aggregation • JOIN • GROUP BY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Key Insights &amp; Business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47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49240" cy="47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01  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21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Electronics contributes 36.43% of total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4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04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Laptop and Mobile are the leading revenue-generating products.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7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87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Patna is the highest-revenue 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70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March 2025 is the strongest complete month.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53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Repeat customers represent 5.49% of customers.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83080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0F766E"/>
                </a:solidFill>
                <a:latin typeface="Aptos"/>
              </a:rPr>
              <a:t>02  BUSINESS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1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21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Maintain strong inventory availability for high-revenue Electronics products.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04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Use Laptop and Mobile purchases as anchors for cross-selling accessories and add-ons.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7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87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Investigate the revenue decline around September and address root causes.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0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70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Target one-time customers with retention campaigns to lift the 5.49% repeat 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3284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532848"/>
            <a:ext cx="4407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827"/>
                </a:solidFill>
                <a:latin typeface="Aptos"/>
              </a:rPr>
              <a:t>Analyze high-performing cities for location-specific strategies.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ApexPlanet Data Analytics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5603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Conclusion &amp; Project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1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DATA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84248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1,000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6829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12 columns • 0 duplicates • 0 sales-calc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64008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673351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EDA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984248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Revenue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36829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Category, product, customer, city, monthly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0876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508760"/>
            <a:ext cx="64008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673351"/>
            <a:ext cx="3017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SQL 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84248"/>
            <a:ext cx="3017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7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39369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SQLite results exported to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375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END-TO-END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7033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3867911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1788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3703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87168" y="370332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51760" y="3867911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1788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3703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34256" y="37033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3867911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1788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EDA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3703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81344" y="370332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3867911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1788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3703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28431" y="37033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93023" y="3867911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1788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Visuals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19" y="370332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875519" y="3703320"/>
            <a:ext cx="64008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40111" y="3867911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1" y="41788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Insights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358220"/>
            <a:ext cx="107899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2563EB"/>
                </a:solidFill>
                <a:latin typeface="Aptos"/>
              </a:rPr>
              <a:t>Final takeaway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789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The analysis identifies Electronics leadership, product concentration, a September revenue dip, and a clear customer retention opportunity.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6217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64748B"/>
                </a:solidFill>
                <a:latin typeface="Aptos"/>
              </a:rPr>
              <a:t>ApexPlanet</a:t>
            </a:r>
            <a:r>
              <a:rPr sz="1000" b="0" dirty="0">
                <a:solidFill>
                  <a:srgbClr val="64748B"/>
                </a:solidFill>
                <a:latin typeface="Aptos"/>
              </a:rPr>
              <a:t> Data Analytics Project  •  Python + SQLite + 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867</Words>
  <Application>Microsoft Office PowerPoint</Application>
  <PresentationFormat>Widescreen</PresentationFormat>
  <Paragraphs>301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Anish Raj</cp:lastModifiedBy>
  <cp:revision>8</cp:revision>
  <dcterms:created xsi:type="dcterms:W3CDTF">2013-01-27T09:14:16Z</dcterms:created>
  <dcterms:modified xsi:type="dcterms:W3CDTF">2026-08-16T14:30:00Z</dcterms:modified>
  <cp:category/>
</cp:coreProperties>
</file>